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ccd40f07bf4cc7" /><Relationship Type="http://schemas.openxmlformats.org/officeDocument/2006/relationships/extended-properties" Target="/docProps/app.xml" Id="R7a40f00f67cd42c3" /><Relationship Type="http://schemas.openxmlformats.org/officeDocument/2006/relationships/officeDocument" Target="/ppt/presentation.xml" Id="Rc70f0003c58d49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f4f391bbc94fec"/>
  </p:sldMasterIdLst>
  <p:notesMasterIdLst>
    <p:notesMasterId xmlns:r="http://schemas.openxmlformats.org/officeDocument/2006/relationships" r:id="Rb45f81fd11554108"/>
  </p:notesMasterIdLst>
  <p:sldIdLst>
    <p:sldId xmlns:r="http://schemas.openxmlformats.org/officeDocument/2006/relationships" id="256" r:id="Rda9e3a68c0474271"/>
    <p:sldId xmlns:r="http://schemas.openxmlformats.org/officeDocument/2006/relationships" id="257" r:id="R4d2371cf3c024103"/>
    <p:sldId xmlns:r="http://schemas.openxmlformats.org/officeDocument/2006/relationships" id="258" r:id="R8ba67f6d92044220"/>
    <p:sldId xmlns:r="http://schemas.openxmlformats.org/officeDocument/2006/relationships" id="259" r:id="R410d449f4fb1468c"/>
    <p:sldId xmlns:r="http://schemas.openxmlformats.org/officeDocument/2006/relationships" id="260" r:id="R2672ce5307cc4bec"/>
    <p:sldId xmlns:r="http://schemas.openxmlformats.org/officeDocument/2006/relationships" id="261" r:id="R9c0a20952d88475f"/>
    <p:sldId xmlns:r="http://schemas.openxmlformats.org/officeDocument/2006/relationships" id="262" r:id="Rff9ab04009b14b53"/>
    <p:sldId xmlns:r="http://schemas.openxmlformats.org/officeDocument/2006/relationships" id="263" r:id="Raf3360bae81e4eff"/>
    <p:sldId xmlns:r="http://schemas.openxmlformats.org/officeDocument/2006/relationships" id="264" r:id="R3913578e486f4a77"/>
    <p:sldId xmlns:r="http://schemas.openxmlformats.org/officeDocument/2006/relationships" id="265" r:id="R747d4917082b40ec"/>
    <p:sldId xmlns:r="http://schemas.openxmlformats.org/officeDocument/2006/relationships" id="266" r:id="R62bcca70f8514fe1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c0e0ed33c649f2" /><Relationship Type="http://schemas.openxmlformats.org/officeDocument/2006/relationships/slideMaster" Target="/ppt/slideMasters/slideMaster1.xml" Id="R11f4f391bbc94fec" /><Relationship Type="http://schemas.openxmlformats.org/officeDocument/2006/relationships/notesMaster" Target="/ppt/notesMasters/notesMaster1.xml" Id="Rb45f81fd11554108" /><Relationship Type="http://schemas.openxmlformats.org/officeDocument/2006/relationships/presProps" Target="/ppt/presProps.xml" Id="Rca76c5e04d564e7e" /><Relationship Type="http://schemas.openxmlformats.org/officeDocument/2006/relationships/viewProps" Target="/ppt/viewProps.xml" Id="Rf74a4cc02b584c07" /><Relationship Type="http://schemas.openxmlformats.org/officeDocument/2006/relationships/tableStyles" Target="/ppt/tableStyles.xml" Id="R88a2d3a3091d4d12" /><Relationship Type="http://schemas.openxmlformats.org/officeDocument/2006/relationships/slide" Target="/ppt/slides/slide1.xml" Id="Rda9e3a68c0474271" /><Relationship Type="http://schemas.openxmlformats.org/officeDocument/2006/relationships/slide" Target="/ppt/slides/slide2.xml" Id="R4d2371cf3c024103" /><Relationship Type="http://schemas.openxmlformats.org/officeDocument/2006/relationships/slide" Target="/ppt/slides/slide3.xml" Id="R8ba67f6d92044220" /><Relationship Type="http://schemas.openxmlformats.org/officeDocument/2006/relationships/slide" Target="/ppt/slides/slide4.xml" Id="R410d449f4fb1468c" /><Relationship Type="http://schemas.openxmlformats.org/officeDocument/2006/relationships/slide" Target="/ppt/slides/slide5.xml" Id="R2672ce5307cc4bec" /><Relationship Type="http://schemas.openxmlformats.org/officeDocument/2006/relationships/slide" Target="/ppt/slides/slide6.xml" Id="R9c0a20952d88475f" /><Relationship Type="http://schemas.openxmlformats.org/officeDocument/2006/relationships/slide" Target="/ppt/slides/slide7.xml" Id="Rff9ab04009b14b53" /><Relationship Type="http://schemas.openxmlformats.org/officeDocument/2006/relationships/slide" Target="/ppt/slides/slide8.xml" Id="Raf3360bae81e4eff" /><Relationship Type="http://schemas.openxmlformats.org/officeDocument/2006/relationships/slide" Target="/ppt/slides/slide9.xml" Id="R3913578e486f4a77" /><Relationship Type="http://schemas.openxmlformats.org/officeDocument/2006/relationships/slide" Target="/ppt/slides/slide10.xml" Id="R747d4917082b40ec" /><Relationship Type="http://schemas.openxmlformats.org/officeDocument/2006/relationships/slide" Target="/ppt/slides/slide11.xml" Id="R62bcca70f8514f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78ab0c85f743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8cbb74db624b00" /><Relationship Type="http://schemas.openxmlformats.org/officeDocument/2006/relationships/notesMaster" Target="/ppt/notesMasters/notesMaster1.xml" Id="R9a933fb12cfd4c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541404e4a74b0d" /><Relationship Type="http://schemas.openxmlformats.org/officeDocument/2006/relationships/notesMaster" Target="/ppt/notesMasters/notesMaster1.xml" Id="R947461ab861149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44ad7f9b214f1c" /><Relationship Type="http://schemas.openxmlformats.org/officeDocument/2006/relationships/notesMaster" Target="/ppt/notesMasters/notesMaster1.xml" Id="R72acde1202b142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23f5f92cbd4614" /><Relationship Type="http://schemas.openxmlformats.org/officeDocument/2006/relationships/notesMaster" Target="/ppt/notesMasters/notesMaster1.xml" Id="R99426800d2364b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b68238883e40a3" /><Relationship Type="http://schemas.openxmlformats.org/officeDocument/2006/relationships/notesMaster" Target="/ppt/notesMasters/notesMaster1.xml" Id="Rc6f1fd5d29fd4a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3a1cfe1a7e49c1" /><Relationship Type="http://schemas.openxmlformats.org/officeDocument/2006/relationships/notesMaster" Target="/ppt/notesMasters/notesMaster1.xml" Id="Rb94489ad8ae54b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a2d89f8bac41ce" /><Relationship Type="http://schemas.openxmlformats.org/officeDocument/2006/relationships/notesMaster" Target="/ppt/notesMasters/notesMaster1.xml" Id="Ra70e3c09ad3643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94a6a346e64adb" /><Relationship Type="http://schemas.openxmlformats.org/officeDocument/2006/relationships/notesMaster" Target="/ppt/notesMasters/notesMaster1.xml" Id="R1cf48381588344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42ed2e39d04bbd" /><Relationship Type="http://schemas.openxmlformats.org/officeDocument/2006/relationships/notesMaster" Target="/ppt/notesMasters/notesMaster1.xml" Id="R522fa3a323f442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0aa0b63f224218" /><Relationship Type="http://schemas.openxmlformats.org/officeDocument/2006/relationships/notesMaster" Target="/ppt/notesMasters/notesMaster1.xml" Id="Rbabdd2d8da3541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cc5cf697104df9" /><Relationship Type="http://schemas.openxmlformats.org/officeDocument/2006/relationships/notesMaster" Target="/ppt/notesMasters/notesMaster1.xml" Id="R42d69834fbad41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https://ru.yougile.com/ ; https://yougile.com/api/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https://help.yougile.com/ ; https://yougile.com/api/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Требования курса: https://my.sky.pro/student-cabinet/stream-module/33981/course-final-work/materials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Контракты API проверены по официальной документации: https://yougile.com/api/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Перед защитой заменить все плейсхолдеры только фактическими результатами трёх прогонов и ручного чек-листа.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выдавать исходные предположения за дефекты. Каждая запись должна быть воспроизведена и подтверждена скриншотом.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5414ec2ee4e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e8e1dde404c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ea7ad69b2a48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98f7f57cc425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4a643c8b574d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161d9960b8437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f0a26efce4b4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fa59de5ae345e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f8a3fbc844e3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ef3a26eba480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8ea6f57b844b6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FDEC06-F3F1-4AEC-A461-88542FAFA32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0D3E895-0E79-449D-AF9D-6C9AB4B28F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9C22745-69F1-4971-A2B9-5A98257571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08C1795-8FF7-4825-901A-ADA176B677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AC03943-8EE4-4043-97CB-848CE26634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DB9592-18F2-4CDC-8501-BF68A0AED0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E564CC7-E11B-4293-9FD4-D02A35045A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E061C5E-F992-47AC-8C1A-A7A48D3E5C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9C3910-69B2-484A-B0E8-14F6A20640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4ECEDB-21FA-4069-9151-E2B956914D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C8E697-FEA4-4D0C-95D4-4CAE45FBF6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F7D4BC8-CCF1-44C9-A095-0C952B4561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02B5F7-9C0E-4AF8-90F2-0F554CC36D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D8E2400-F047-4DF0-BBBD-71F38D489A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11B2540-A025-4201-A6A8-5DBEDEDBA3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E48A7D-089B-4A35-8659-DCDE83A294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990DBE1-58B0-4FCA-B494-2B699AC8B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7CB2C85-4C83-41AF-B5B5-673F93AF891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377CAEA-0959-4B0C-B808-92F6C4F48D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04CF37-4600-456D-A5FF-406D6B5141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ED5E9AD-F203-415A-A50C-2EF47DBEF0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4406DE-0CAE-4030-87EF-F3B10923B2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7E1942B-7891-41E4-90D4-5CA0D2CA4F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86A8ABF-AB82-4B4F-8BAB-9BFE5C267A1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B0AA236-A67A-4B3A-92FD-420EC54FAB1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1810931-856C-47C7-9191-F9EF1955EC8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DBE7E4B-C4E1-40F9-84DA-A64BC5482A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AED2082-65A3-4B6A-B0F7-A449137239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8A4B02A-D100-4559-855A-F6CA1D7474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75C35D-8E34-4717-8296-584BE7871B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066C580-E380-4246-95E8-47BA93EBF9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EA86513-20E0-4CFD-B8C3-E45DBD472B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A295E8F-0513-4112-9011-E08037A747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3E53A2D-C03C-4608-B0B1-C9E924B583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5ACF6C9-F17C-4A25-B29E-553F0BB950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7D090F6-F203-4DBF-B1E9-03A26EBA50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11E181-B89A-489D-B2E4-C3DF1869AB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0C74E57-1240-48B2-AF10-2E8E0142722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FED275-5CA2-4E07-8426-055486BFD7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30528CD-EC12-44C5-87DE-4ABC6B14A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D8198ED-5FBA-45EA-86F4-05F36DCE64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CCE7468-D775-4715-9241-06CC81FED3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47FB9D-9C29-4F9D-8053-09B70E4284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FA1A5A8-A9A5-4DCA-9BF3-EF19C881850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1E4493E-91A5-4737-A535-DCB54978B7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E20CE03-3F67-40DB-8DB6-A88D185C59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6B772DD-302D-428D-B524-33836A38B6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5DFAC60-DDCD-4988-8CB3-945638040D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6E4711-DF0B-4D25-8264-CB6BBBC88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38B494F-AF89-45A1-8697-24CA39BFE0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16FAC2B-495B-4405-A3AA-5A6BFD59B6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D9886A-E304-40E4-871E-5BECF49DDD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F611BB-8C9F-4872-A6FE-ACD6DAA01D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2AE9DA7-D610-4D73-938D-700A87E47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4791BFC-A225-4CB1-8714-92F89C2F85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1BF5B6-3234-4E13-8D34-06DC78813F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A8CC730-4F5A-4D9A-B6EF-DD57925ADC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06E8A17-A0E0-41CE-8441-1158272C39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6e195a09594349" /><Relationship Type="http://schemas.openxmlformats.org/officeDocument/2006/relationships/slideLayout" Target="/ppt/slideLayouts/slideLayout1.xml" Id="Rccc0dfe98c284cd1" /><Relationship Type="http://schemas.openxmlformats.org/officeDocument/2006/relationships/slideLayout" Target="/ppt/slideLayouts/slideLayout2.xml" Id="R37e4cd9cb8994042" /><Relationship Type="http://schemas.openxmlformats.org/officeDocument/2006/relationships/slideLayout" Target="/ppt/slideLayouts/slideLayout3.xml" Id="Rbd2a77bef2324ab7" /><Relationship Type="http://schemas.openxmlformats.org/officeDocument/2006/relationships/slideLayout" Target="/ppt/slideLayouts/slideLayout4.xml" Id="Rd728ceabca0646ce" /><Relationship Type="http://schemas.openxmlformats.org/officeDocument/2006/relationships/slideLayout" Target="/ppt/slideLayouts/slideLayout5.xml" Id="R3be68abec3fd44b8" /><Relationship Type="http://schemas.openxmlformats.org/officeDocument/2006/relationships/slideLayout" Target="/ppt/slideLayouts/slideLayout6.xml" Id="R3669f2676fe04ba4" /><Relationship Type="http://schemas.openxmlformats.org/officeDocument/2006/relationships/slideLayout" Target="/ppt/slideLayouts/slideLayout7.xml" Id="R4f241c59693943da" /><Relationship Type="http://schemas.openxmlformats.org/officeDocument/2006/relationships/slideLayout" Target="/ppt/slideLayouts/slideLayout8.xml" Id="R6d3263cc696d4481" /><Relationship Type="http://schemas.openxmlformats.org/officeDocument/2006/relationships/slideLayout" Target="/ppt/slideLayouts/slideLayout9.xml" Id="R3d922b5a6c2344f3" /><Relationship Type="http://schemas.openxmlformats.org/officeDocument/2006/relationships/slideLayout" Target="/ppt/slideLayouts/slideLayout10.xml" Id="Rdc4599a7d1e24552" /><Relationship Type="http://schemas.openxmlformats.org/officeDocument/2006/relationships/slideLayout" Target="/ppt/slideLayouts/slideLayout11.xml" Id="Rc8a0a16448a441c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7BA8BAF-844B-4E90-8207-89EB15309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11825B-DFA0-4D7D-B0EB-B729CBEF7C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59AF3A4-9F8E-40C2-B386-C42035F8540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CB9D32-122D-4664-9DEE-7F9243FCB9D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D7A877-E337-4C06-816F-E68A887056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c0dfe98c284cd1"/>
    <p:sldLayoutId xmlns:r="http://schemas.openxmlformats.org/officeDocument/2006/relationships" id="2147483650" r:id="R37e4cd9cb8994042"/>
    <p:sldLayoutId xmlns:r="http://schemas.openxmlformats.org/officeDocument/2006/relationships" id="2147483651" r:id="Rbd2a77bef2324ab7"/>
    <p:sldLayoutId xmlns:r="http://schemas.openxmlformats.org/officeDocument/2006/relationships" id="2147483652" r:id="Rd728ceabca0646ce"/>
    <p:sldLayoutId xmlns:r="http://schemas.openxmlformats.org/officeDocument/2006/relationships" id="2147483653" r:id="R3be68abec3fd44b8"/>
    <p:sldLayoutId xmlns:r="http://schemas.openxmlformats.org/officeDocument/2006/relationships" id="2147483654" r:id="R3669f2676fe04ba4"/>
    <p:sldLayoutId xmlns:r="http://schemas.openxmlformats.org/officeDocument/2006/relationships" id="2147483655" r:id="R4f241c59693943da"/>
    <p:sldLayoutId xmlns:r="http://schemas.openxmlformats.org/officeDocument/2006/relationships" id="2147483656" r:id="R6d3263cc696d4481"/>
    <p:sldLayoutId xmlns:r="http://schemas.openxmlformats.org/officeDocument/2006/relationships" id="2147483657" r:id="R3d922b5a6c2344f3"/>
    <p:sldLayoutId xmlns:r="http://schemas.openxmlformats.org/officeDocument/2006/relationships" id="2147483658" r:id="Rdc4599a7d1e24552"/>
    <p:sldLayoutId xmlns:r="http://schemas.openxmlformats.org/officeDocument/2006/relationships" id="2147483659" r:id="Rc8a0a16448a441cc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e790222ec44579" /><Relationship Type="http://schemas.openxmlformats.org/officeDocument/2006/relationships/notesSlide" Target="/ppt/notesSlides/notesSlide1.xml" Id="R4fc29f0be7fc4f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4c11712e6a4e85" /><Relationship Type="http://schemas.openxmlformats.org/officeDocument/2006/relationships/notesSlide" Target="/ppt/notesSlides/notesSlide2.xml" Id="Rca9e94670ba04a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ec0c8bb01b41db" /><Relationship Type="http://schemas.openxmlformats.org/officeDocument/2006/relationships/notesSlide" Target="/ppt/notesSlides/notesSlide3.xml" Id="Rfe5d4f0db07f42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9c249a59f948a7" /><Relationship Type="http://schemas.openxmlformats.org/officeDocument/2006/relationships/notesSlide" Target="/ppt/notesSlides/notesSlide4.xml" Id="Rfcca87b0e12640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5e50ed112e4562" /><Relationship Type="http://schemas.openxmlformats.org/officeDocument/2006/relationships/notesSlide" Target="/ppt/notesSlides/notesSlide5.xml" Id="Rc30e4560a0604f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bda0eb11754e48" /><Relationship Type="http://schemas.openxmlformats.org/officeDocument/2006/relationships/notesSlide" Target="/ppt/notesSlides/notesSlide6.xml" Id="R56c38234666943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4782f50dfd421f" /><Relationship Type="http://schemas.openxmlformats.org/officeDocument/2006/relationships/notesSlide" Target="/ppt/notesSlides/notesSlide7.xml" Id="R1bbca4158b3546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f3538ade4c40a9" /><Relationship Type="http://schemas.openxmlformats.org/officeDocument/2006/relationships/notesSlide" Target="/ppt/notesSlides/notesSlide8.xml" Id="R859b0103ada044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109f05068549be" /><Relationship Type="http://schemas.openxmlformats.org/officeDocument/2006/relationships/notesSlide" Target="/ppt/notesSlides/notesSlide9.xml" Id="Rcc302e8b2c314b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a8bb19d94540a0" /><Relationship Type="http://schemas.openxmlformats.org/officeDocument/2006/relationships/notesSlide" Target="/ppt/notesSlides/notesSlide10.xml" Id="Rfe40028a310e42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d8fffcb9dd4412" /><Relationship Type="http://schemas.openxmlformats.org/officeDocument/2006/relationships/notesSlide" Target="/ppt/notesSlides/notesSlide11.xml" Id="R78657cac07834a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5C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25D27BB-72A4-41A3-AD27-2B505ECF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0058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00" b="1">
                <a:solidFill>
                  <a:srgbClr val="FFFFFF"/>
                </a:solidFill>
              </a:defRPr>
            </a:pPr>
            <a:r>
              <a:t>Тестирование платформы YouGile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4F79EF9-7D0F-4D88-BA5C-345165A1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0480"/>
            <a:ext cx="10058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>
                <a:solidFill>
                  <a:srgbClr val="CCDDEE"/>
                </a:solidFill>
              </a:defRPr>
            </a:pPr>
            <a:r>
              <a:t>Дипломный проект. Фактический прогон 03.10.2026</a:t>
            </a:r>
          </a:p>
        </p:txBody>
      </p:sp>
    </p:spTree>
    <p:extLst>
      <p:ext uri="{BB962C8B-B14F-4D97-AF65-F5344CB8AC3E}">
        <p14:creationId xmlns:p14="http://schemas.microsoft.com/office/powerpoint/2010/main" val="1323368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2960539-F388-451F-90CB-359EC89F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C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FFFFFF"/>
                </a:solidFill>
              </a:defRPr>
            </a:pPr>
            <a:r>
              <a:t>Описание проекта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415B7E-3953-4E37-8E59-846E4C19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10515600" cy="502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YouGile — облачная система управления проектами с Kanban-досками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Объект: веб-версия и публичный REST API v2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Основные сущности: проекты, доски, колонки и задачи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Учебная работа сочетает ручные проверки, Postman и автотесты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В результаты включаются только факты, подтверждённые прогоном</a:t>
            </a:r>
          </a:p>
        </p:txBody>
      </p:sp>
    </p:spTree>
    <p:extLst>
      <p:ext uri="{BB962C8B-B14F-4D97-AF65-F5344CB8AC3E}">
        <p14:creationId xmlns:p14="http://schemas.microsoft.com/office/powerpoint/2010/main" val="78643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9D88800-1A93-4538-8E42-1C225DA3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C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FFFFFF"/>
                </a:solidFill>
              </a:defRPr>
            </a:pPr>
            <a:r>
              <a:t>Ключевые функции для тестирования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C3A946C-D9CC-4328-A38B-3BC9BE14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10515600" cy="502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1. Авторизация — вход по e-mail и паролю, получение API-ключа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2. Проекты — просмотр раздела и создание учебного проекта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3. Задачи — создание, переименование и перемещение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Эти функции образуют сквозной пользовательский сценарий</a:t>
            </a:r>
          </a:p>
        </p:txBody>
      </p:sp>
    </p:spTree>
    <p:extLst>
      <p:ext uri="{BB962C8B-B14F-4D97-AF65-F5344CB8AC3E}">
        <p14:creationId xmlns:p14="http://schemas.microsoft.com/office/powerpoint/2010/main" val="398722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0C951E-C832-4C5F-AB15-96CBE2B3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C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FFFFFF"/>
                </a:solidFill>
              </a:defRPr>
            </a:pPr>
            <a:r>
              <a:t>Подход к тестированию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06D23B8-9282-43E2-B8E6-D693176C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10515600" cy="502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Функциональные UI-кейсы: 7 позитивных сценариев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API: 7 кейсов — 5 позитивных и 2 негативных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Нефункциональный чек-лист: 12 проверок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    — UI/UX · кроссбраузерность · производительность · доступность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Автоматизация: 5 UI + 7 API тестов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Стек: Python · pytest · Playwright · Requests · Allure · Ruff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Режимы запуска: ui · api · полный набор</a:t>
            </a:r>
          </a:p>
        </p:txBody>
      </p:sp>
    </p:spTree>
    <p:extLst>
      <p:ext uri="{BB962C8B-B14F-4D97-AF65-F5344CB8AC3E}">
        <p14:creationId xmlns:p14="http://schemas.microsoft.com/office/powerpoint/2010/main" val="13099083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C222771-F43C-4719-B0B6-FB44E80F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C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00" b="1">
                <a:solidFill>
                  <a:srgbClr val="FFFFFF"/>
                </a:solidFill>
              </a:defRPr>
            </a:pPr>
            <a:r>
              <a:t>Тестовая документация</a:t>
            </a:r>
          </a:p>
        </p:txBody>
      </p:sp>
      <p:graphicFrame>
        <p:nvGraphicFramePr>
          <p:cNvPr id="5" name="Table 2"/>
          <p:cNvGraphicFramePr/>
          <p:nvPr/>
        </p:nvGraphicFramePr>
        <p:xfrm>
          <a:off xmlns:a="http://schemas.openxmlformats.org/drawingml/2006/main" x="457200" y="146304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Документ</a:t>
                      </a:r>
                    </a:p>
                  </a:txBody>
                  <a:tcPr marL="91440" marR="91440" marT="45720" marB="45720">
                    <a:solidFill>
                      <a:srgbClr val="1A5C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Инструмент</a:t>
                      </a:r>
                    </a:p>
                  </a:txBody>
                  <a:tcPr marL="91440" marR="91440" marT="45720" marB="45720">
                    <a:solidFill>
                      <a:srgbClr val="1A5C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Объём</a:t>
                      </a:r>
                    </a:p>
                  </a:txBody>
                  <a:tcPr marL="91440" marR="91440" marT="45720" marB="45720">
                    <a:solidFill>
                      <a:srgbClr val="1A5C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Статус</a:t>
                      </a:r>
                    </a:p>
                  </a:txBody>
                  <a:tcPr marL="91440" marR="91440" marT="45720" marB="45720">
                    <a:solidFill>
                      <a:srgbClr val="1A5CA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Тест-план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Yonote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Готов к публикации</a:t>
                      </a:r>
                    </a:p>
                  </a:txBody>
                  <a:tcPr marL="91440" marR="91440" marT="45720" marB="45720">
                    <a:solidFill>
                      <a:srgbClr val="E2F0D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Функциональные кейсы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Excel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7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7/7 PASSED</a:t>
                      </a:r>
                    </a:p>
                  </a:txBody>
                  <a:tcPr marL="91440" marR="91440" marT="45720" marB="45720">
                    <a:solidFill>
                      <a:srgbClr val="E2F0D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API-кейсы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Excel + Postman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7/7 PASSED</a:t>
                      </a:r>
                    </a:p>
                  </a:txBody>
                  <a:tcPr marL="91440" marR="91440" marT="45720" marB="45720">
                    <a:solidFill>
                      <a:srgbClr val="E2F0D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Нефункциональный чек-лист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Excel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12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10 PASSED / 2 FAILED</a:t>
                      </a:r>
                    </a:p>
                  </a:txBody>
                  <a:tcPr marL="91440" marR="91440" marT="45720" marB="45720">
                    <a:solidFill>
                      <a:srgbClr val="FCE4D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Автотесты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GitHub + Allure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12/12 PASSED</a:t>
                      </a:r>
                    </a:p>
                  </a:txBody>
                  <a:tcPr marL="91440" marR="91440" marT="45720" marB="45720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23774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AB0661F-A7F2-4D99-A642-4BD506F8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C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FFFFFF"/>
                </a:solidFill>
              </a:defRPr>
            </a:pPr>
            <a:r>
              <a:t>Структура проекта автотестов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1214829-2B7B-4149-B2BC-2CBA5E31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10515600" cy="502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</a:t>
            </a:r>
            <a:r>
              <a:t>Python 3.12</a:t>
            </a:r>
            <a:r>
              <a:t>, </a:t>
            </a:r>
            <a:r>
              <a:t>pytest, Requests, Playwright и Allure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Page Object для веб-интерфейса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Отдельный браузерный контекст для каждого UI-теста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Временный API-ключ удаляется после сессии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Конфигурация и секреты вынесены из кода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Все методы имеют аннотации типов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Явные ожидания вместо time.sleep()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</a:t>
            </a:r>
            <a:r>
              <a:t>Маркеры ui/api; архив готов для GitHub</a:t>
            </a:r>
          </a:p>
        </p:txBody>
      </p:sp>
    </p:spTree>
    <p:extLst>
      <p:ext uri="{BB962C8B-B14F-4D97-AF65-F5344CB8AC3E}">
        <p14:creationId xmlns:p14="http://schemas.microsoft.com/office/powerpoint/2010/main" val="17179061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10B67C3-6AAF-47DB-B9AC-D2BE0C67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C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00" b="1">
                <a:solidFill>
                  <a:srgbClr val="FFFFFF"/>
                </a:solidFill>
              </a:defRPr>
            </a:pPr>
            <a:r>
              <a:t>API тест-кейсы</a:t>
            </a:r>
          </a:p>
        </p:txBody>
      </p:sp>
      <p:graphicFrame>
        <p:nvGraphicFramePr>
          <p:cNvPr id="5" name="Table 2"/>
          <p:cNvGraphicFramePr/>
          <p:nvPr/>
        </p:nvGraphicFramePr>
        <p:xfrm>
          <a:off xmlns:a="http://schemas.openxmlformats.org/drawingml/2006/main" x="457200" y="146304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A5C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Метод</a:t>
                      </a:r>
                    </a:p>
                  </a:txBody>
                  <a:tcPr marL="91440" marR="91440" marT="45720" marB="45720">
                    <a:solidFill>
                      <a:srgbClr val="1A5C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Ресурс</a:t>
                      </a:r>
                    </a:p>
                  </a:txBody>
                  <a:tcPr marL="91440" marR="91440" marT="45720" marB="45720">
                    <a:solidFill>
                      <a:srgbClr val="1A5C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Статус</a:t>
                      </a:r>
                    </a:p>
                  </a:txBody>
                  <a:tcPr marL="91440" marR="91440" marT="45720" marB="45720">
                    <a:solidFill>
                      <a:srgbClr val="1A5C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Тип</a:t>
                      </a:r>
                    </a:p>
                  </a:txBody>
                  <a:tcPr marL="91440" marR="91440" marT="45720" marB="45720">
                    <a:solidFill>
                      <a:srgbClr val="1A5CA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API-001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POST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/auth/companies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Позитивный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API-002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POST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/auth/keys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201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Позитивный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API-003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/users/me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Позитивный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API-004/005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GET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/projects · /tasks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200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Позитивные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API-006/007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Без/невалидный token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401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Негативные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7572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CC8BD50-9A1E-4AAB-BDA2-5DBB393C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C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00" b="1">
                <a:solidFill>
                  <a:srgbClr val="FFFFFF"/>
                </a:solidFill>
              </a:defRPr>
            </a:pPr>
            <a:r>
              <a:t>Результаты тестирования</a:t>
            </a:r>
          </a:p>
        </p:txBody>
      </p:sp>
      <p:graphicFrame>
        <p:nvGraphicFramePr>
          <p:cNvPr id="5" name="Table 2"/>
          <p:cNvGraphicFramePr/>
          <p:nvPr/>
        </p:nvGraphicFramePr>
        <p:xfrm>
          <a:off xmlns:a="http://schemas.openxmlformats.org/drawingml/2006/main" x="457200" y="146304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Метрика</a:t>
                      </a:r>
                    </a:p>
                  </a:txBody>
                  <a:tcPr marL="91440" marR="91440" marT="45720" marB="45720">
                    <a:solidFill>
                      <a:srgbClr val="1A5C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Фактическое значение</a:t>
                      </a:r>
                    </a:p>
                  </a:txBody>
                  <a:tcPr marL="91440" marR="91440" marT="45720" marB="45720">
                    <a:solidFill>
                      <a:srgbClr val="1A5C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UI-автотесты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5/5 PASSED</a:t>
                      </a:r>
                    </a:p>
                  </a:txBody>
                  <a:tcPr marL="91440" marR="91440" marT="45720" marB="45720">
                    <a:solidFill>
                      <a:srgbClr val="E2F0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API-автотесты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7/7 PASSED</a:t>
                      </a:r>
                    </a:p>
                  </a:txBody>
                  <a:tcPr marL="91440" marR="91440" marT="45720" marB="45720">
                    <a:solidFill>
                      <a:srgbClr val="E2F0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Ручные проверки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7/7 функциональных. 10/12 нефункциональных</a:t>
                      </a:r>
                    </a:p>
                  </a:txBody>
                  <a:tcPr marL="91440" marR="91440" marT="45720" marB="45720">
                    <a:solidFill>
                      <a:srgbClr val="FFF2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pytest -m ui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5 passed. 43.67 с</a:t>
                      </a:r>
                    </a:p>
                  </a:txBody>
                  <a:tcPr marL="91440" marR="91440" marT="45720" marB="45720">
                    <a:solidFill>
                      <a:srgbClr val="E2F0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pytest -m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7 passed. 2.97 с</a:t>
                      </a:r>
                    </a:p>
                  </a:txBody>
                  <a:tcPr marL="91440" marR="91440" marT="45720" marB="45720">
                    <a:solidFill>
                      <a:srgbClr val="E2F0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pytest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12 passed. 48.59 с</a:t>
                      </a:r>
                    </a:p>
                  </a:txBody>
                  <a:tcPr marL="91440" marR="91440" marT="45720" marB="45720">
                    <a:solidFill>
                      <a:srgbClr val="E2F0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Подтверждённые дефекты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1. YG-DIP-001. Minor</a:t>
                      </a:r>
                    </a:p>
                  </a:txBody>
                  <a:tcPr marL="91440" marR="91440" marT="45720" marB="45720">
                    <a:solidFill>
                      <a:srgbClr val="FCE4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Тестовое окружение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macOS 26.6.2. Python 3.12.14. Три браузера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Доказательства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Allure 12/12. Newman 15/15. Скриншоты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4105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709F9E-8437-46B9-BF25-EA26B63A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C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00" b="1">
                <a:solidFill>
                  <a:srgbClr val="FFFFFF"/>
                </a:solidFill>
              </a:defRPr>
            </a:pPr>
            <a:r>
              <a:t>Дефекты: только подтверждённые</a:t>
            </a:r>
          </a:p>
        </p:txBody>
      </p:sp>
      <p:graphicFrame>
        <p:nvGraphicFramePr>
          <p:cNvPr id="5" name="Table 2"/>
          <p:cNvGraphicFramePr/>
          <p:nvPr/>
        </p:nvGraphicFramePr>
        <p:xfrm>
          <a:off xmlns:a="http://schemas.openxmlformats.org/drawingml/2006/main" x="457200" y="146304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Срез</a:t>
                      </a:r>
                    </a:p>
                  </a:txBody>
                  <a:tcPr marL="91440" marR="91440" marT="45720" marB="45720">
                    <a:solidFill>
                      <a:srgbClr val="1A5C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Фактическое значение</a:t>
                      </a:r>
                    </a:p>
                  </a:txBody>
                  <a:tcPr marL="91440" marR="91440" marT="45720" marB="45720">
                    <a:solidFill>
                      <a:srgbClr val="1A5C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Доказательство</a:t>
                      </a:r>
                    </a:p>
                  </a:txBody>
                  <a:tcPr marL="91440" marR="91440" marT="45720" marB="45720">
                    <a:solidFill>
                      <a:srgbClr val="1A5C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Комментарий</a:t>
                      </a:r>
                    </a:p>
                  </a:txBody>
                  <a:tcPr marL="91440" marR="91440" marT="45720" marB="45720">
                    <a:solidFill>
                      <a:srgbClr val="1A5CA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Всего подтверждено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1</a:t>
                      </a:r>
                    </a:p>
                  </a:txBody>
                  <a:tcPr marL="91440" marR="91440" marT="45720" marB="45720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yougile_bug_reports.xlsx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YG-DIP-001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Приоритет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Medium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nonfunctional-results.json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Клавиатурная навигация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Severity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Minor</a:t>
                      </a:r>
                    </a:p>
                  </a:txBody>
                  <a:tcPr marL="91440" marR="91440" marT="45720" marB="45720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nf-001-login-form.png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Enter из поля пароля работает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Наблюдение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NF-008</a:t>
                      </a:r>
                    </a:p>
                  </a:txBody>
                  <a:tcPr marL="91440" marR="91440" marT="45720" marB="4572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nonfunctional-results.json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2 из 3 загрузок дольше 3 с</a:t>
                      </a:r>
                    </a:p>
                  </a:txBody>
                  <a:tcPr marL="91440" marR="91440" marT="45720" marB="4572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58637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FF9DE96-64B0-4010-9C74-682C4DEB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C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FFFFFF"/>
                </a:solidFill>
              </a:defRPr>
            </a:pPr>
            <a:r>
              <a:t>Выводы и рекомендации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357B22C-13D2-4527-8171-FFA096E7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10515600" cy="502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Статус качества: </a:t>
            </a:r>
            <a:r>
              <a:t>готово с ограничениями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</a:t>
            </a:r>
            <a:r>
              <a:t>Основание: 7/7 функциональных и 7/7 API; 12/12 автотестов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Подтверждённые дефекты: </a:t>
            </a:r>
            <a:r>
              <a:t>1. YG-DIP-001. Minor, Medium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Ограничения: </a:t>
            </a:r>
            <a:r>
              <a:t>мобильные приложения, роли, интеграции и нагрузка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Рекомендации: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    — </a:t>
            </a:r>
            <a:r>
              <a:t>добавить кнопку «Войти» в порядок Tab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    — </a:t>
            </a:r>
            <a:r>
              <a:t>повторить замеры входа в контролируемой сети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>
                <a:solidFill>
                  <a:srgbClr val="2C2C2C"/>
                </a:solidFill>
              </a:defRPr>
            </a:pPr>
            <a:r>
              <a:t>•      — </a:t>
            </a:r>
            <a:r>
              <a:t>запускать API и три браузера в регрессии</a:t>
            </a:r>
          </a:p>
        </p:txBody>
      </p:sp>
    </p:spTree>
    <p:extLst>
      <p:ext uri="{BB962C8B-B14F-4D97-AF65-F5344CB8AC3E}">
        <p14:creationId xmlns:p14="http://schemas.microsoft.com/office/powerpoint/2010/main" val="8974924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A5C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0BBB885-2A80-43DE-918E-D4EE35A8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0058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00" b="1">
                <a:solidFill>
                  <a:srgbClr val="FFFFFF"/>
                </a:solidFill>
              </a:defRPr>
            </a:pPr>
            <a:r>
              <a:t>Спасибо за внимание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3832C7-2815-44A4-AE08-33FFF55E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0480"/>
            <a:ext cx="10058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>
                <a:solidFill>
                  <a:srgbClr val="CCDDEE"/>
                </a:solidFill>
              </a:defRPr>
            </a:pPr>
            <a:r>
              <a:t>Материалы собраны в папке «Готово_к_сдаче»</a:t>
            </a:r>
          </a:p>
        </p:txBody>
      </p:sp>
    </p:spTree>
    <p:extLst>
      <p:ext uri="{BB962C8B-B14F-4D97-AF65-F5344CB8AC3E}">
        <p14:creationId xmlns:p14="http://schemas.microsoft.com/office/powerpoint/2010/main" val="66164539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2026-10-03T17:40:21.1810000Z</dcterms:created>
  <dcterms:modified xsi:type="dcterms:W3CDTF">2026-10-03T17:40:21.1810000Z</dcterms:modified>
</coreProperties>
</file>